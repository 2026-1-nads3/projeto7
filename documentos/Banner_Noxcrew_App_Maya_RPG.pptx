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28800425" cy="43200638"/>
  <p:notesSz cx="6858000" cy="9144000"/>
  <p:embeddedFontLst>
    <p:embeddedFont>
      <p:font typeface="Inter" panose="020B0604020202020204" charset="0"/>
      <p:regular r:id="rId3"/>
    </p:embeddedFont>
    <p:embeddedFont>
      <p:font typeface="Open Sans 1" panose="020B0604020202020204" charset="0"/>
      <p:regular r:id="rId4"/>
    </p:embeddedFont>
    <p:embeddedFont>
      <p:font typeface="Open Sans 1 Bold" panose="020B0604020202020204" charset="0"/>
      <p:regular r:id="rId5"/>
    </p:embeddedFont>
    <p:embeddedFont>
      <p:font typeface="Open Sans 2" panose="020B0604020202020204" charset="0"/>
      <p:regular r:id="rId6"/>
    </p:embeddedFont>
    <p:embeddedFont>
      <p:font typeface="Open Sans 2 Bold" panose="020B0604020202020204" charset="0"/>
      <p:regular r:id="rId7"/>
    </p:embeddedFont>
  </p:embeddedFontLst>
  <p:defaultTextStyle>
    <a:defPPr>
      <a:defRPr lang="en-US"/>
    </a:defPPr>
    <a:lvl1pPr marL="0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1pPr>
    <a:lvl2pPr marL="902193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2pPr>
    <a:lvl3pPr marL="1804386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3pPr>
    <a:lvl4pPr marL="2706578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4pPr>
    <a:lvl5pPr marL="3608771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5pPr>
    <a:lvl6pPr marL="4510964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6pPr>
    <a:lvl7pPr marL="5413157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7pPr>
    <a:lvl8pPr marL="6315349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8pPr>
    <a:lvl9pPr marL="7217542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66" userDrawn="1">
          <p15:clr>
            <a:srgbClr val="A4A3A4"/>
          </p15:clr>
        </p15:guide>
        <p15:guide id="2" pos="54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60" autoAdjust="0"/>
    <p:restoredTop sz="94404" autoAdjust="0"/>
  </p:normalViewPr>
  <p:slideViewPr>
    <p:cSldViewPr>
      <p:cViewPr>
        <p:scale>
          <a:sx n="25" d="100"/>
          <a:sy n="25" d="100"/>
        </p:scale>
        <p:origin x="1896" y="804"/>
      </p:cViewPr>
      <p:guideLst>
        <p:guide orient="horz" pos="4366"/>
        <p:guide pos="54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ableStyles" Target="tableStyles.xml"/><Relationship Id="rId5" Type="http://schemas.openxmlformats.org/officeDocument/2006/relationships/font" Target="fonts/font3.fntdata"/><Relationship Id="rId10" Type="http://schemas.openxmlformats.org/officeDocument/2006/relationships/theme" Target="theme/theme1.xml"/><Relationship Id="rId4" Type="http://schemas.openxmlformats.org/officeDocument/2006/relationships/font" Target="fonts/font2.fntdata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6910" y="4305947"/>
            <a:ext cx="14811647" cy="29711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13820" y="7854662"/>
            <a:ext cx="12197827" cy="354229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871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742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61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4851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356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2277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0990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970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492" y="8907084"/>
            <a:ext cx="14811647" cy="2752982"/>
          </a:xfrm>
        </p:spPr>
        <p:txBody>
          <a:bodyPr anchor="t"/>
          <a:lstStyle>
            <a:lvl1pPr algn="l">
              <a:defRPr sz="762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492" y="5874955"/>
            <a:ext cx="14811647" cy="3032129"/>
          </a:xfrm>
        </p:spPr>
        <p:txBody>
          <a:bodyPr anchor="b"/>
          <a:lstStyle>
            <a:lvl1pPr marL="0" indent="0">
              <a:buNone/>
              <a:defRPr sz="3811">
                <a:solidFill>
                  <a:schemeClr val="tx1">
                    <a:tint val="75000"/>
                  </a:schemeClr>
                </a:solidFill>
              </a:defRPr>
            </a:lvl1pPr>
            <a:lvl2pPr marL="871286" indent="0">
              <a:buNone/>
              <a:defRPr sz="3430">
                <a:solidFill>
                  <a:schemeClr val="tx1">
                    <a:tint val="75000"/>
                  </a:schemeClr>
                </a:solidFill>
              </a:defRPr>
            </a:lvl2pPr>
            <a:lvl3pPr marL="1742572" indent="0">
              <a:buNone/>
              <a:defRPr sz="3049">
                <a:solidFill>
                  <a:schemeClr val="tx1">
                    <a:tint val="75000"/>
                  </a:schemeClr>
                </a:solidFill>
              </a:defRPr>
            </a:lvl3pPr>
            <a:lvl4pPr marL="2613858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4pPr>
            <a:lvl5pPr marL="3485144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5pPr>
            <a:lvl6pPr marL="4356430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6pPr>
            <a:lvl7pPr marL="5227716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7pPr>
            <a:lvl8pPr marL="6099002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8pPr>
            <a:lvl9pPr marL="6970288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71273" y="3234273"/>
            <a:ext cx="7696248" cy="9147730"/>
          </a:xfrm>
        </p:spPr>
        <p:txBody>
          <a:bodyPr/>
          <a:lstStyle>
            <a:lvl1pPr>
              <a:defRPr sz="5336"/>
            </a:lvl1pPr>
            <a:lvl2pPr>
              <a:defRPr sz="4574"/>
            </a:lvl2pPr>
            <a:lvl3pPr>
              <a:defRPr sz="3811"/>
            </a:lvl3pPr>
            <a:lvl4pPr>
              <a:defRPr sz="3430"/>
            </a:lvl4pPr>
            <a:lvl5pPr>
              <a:defRPr sz="3430"/>
            </a:lvl5pPr>
            <a:lvl6pPr>
              <a:defRPr sz="3430"/>
            </a:lvl6pPr>
            <a:lvl7pPr>
              <a:defRPr sz="3430"/>
            </a:lvl7pPr>
            <a:lvl8pPr>
              <a:defRPr sz="3430"/>
            </a:lvl8pPr>
            <a:lvl9pPr>
              <a:defRPr sz="343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57946" y="3234273"/>
            <a:ext cx="7696248" cy="9147730"/>
          </a:xfrm>
        </p:spPr>
        <p:txBody>
          <a:bodyPr/>
          <a:lstStyle>
            <a:lvl1pPr>
              <a:defRPr sz="5336"/>
            </a:lvl1pPr>
            <a:lvl2pPr>
              <a:defRPr sz="4574"/>
            </a:lvl2pPr>
            <a:lvl3pPr>
              <a:defRPr sz="3811"/>
            </a:lvl3pPr>
            <a:lvl4pPr>
              <a:defRPr sz="3430"/>
            </a:lvl4pPr>
            <a:lvl5pPr>
              <a:defRPr sz="3430"/>
            </a:lvl5pPr>
            <a:lvl6pPr>
              <a:defRPr sz="3430"/>
            </a:lvl6pPr>
            <a:lvl7pPr>
              <a:defRPr sz="3430"/>
            </a:lvl7pPr>
            <a:lvl8pPr>
              <a:defRPr sz="3430"/>
            </a:lvl8pPr>
            <a:lvl9pPr>
              <a:defRPr sz="343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1273" y="3102721"/>
            <a:ext cx="7699274" cy="1293066"/>
          </a:xfrm>
        </p:spPr>
        <p:txBody>
          <a:bodyPr anchor="b"/>
          <a:lstStyle>
            <a:lvl1pPr marL="0" indent="0">
              <a:buNone/>
              <a:defRPr sz="4574" b="1"/>
            </a:lvl1pPr>
            <a:lvl2pPr marL="871286" indent="0">
              <a:buNone/>
              <a:defRPr sz="3811" b="1"/>
            </a:lvl2pPr>
            <a:lvl3pPr marL="1742572" indent="0">
              <a:buNone/>
              <a:defRPr sz="3430" b="1"/>
            </a:lvl3pPr>
            <a:lvl4pPr marL="2613858" indent="0">
              <a:buNone/>
              <a:defRPr sz="3049" b="1"/>
            </a:lvl4pPr>
            <a:lvl5pPr marL="3485144" indent="0">
              <a:buNone/>
              <a:defRPr sz="3049" b="1"/>
            </a:lvl5pPr>
            <a:lvl6pPr marL="4356430" indent="0">
              <a:buNone/>
              <a:defRPr sz="3049" b="1"/>
            </a:lvl6pPr>
            <a:lvl7pPr marL="5227716" indent="0">
              <a:buNone/>
              <a:defRPr sz="3049" b="1"/>
            </a:lvl7pPr>
            <a:lvl8pPr marL="6099002" indent="0">
              <a:buNone/>
              <a:defRPr sz="3049" b="1"/>
            </a:lvl8pPr>
            <a:lvl9pPr marL="6970288" indent="0">
              <a:buNone/>
              <a:defRPr sz="304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1273" y="4395787"/>
            <a:ext cx="7699274" cy="7986215"/>
          </a:xfrm>
        </p:spPr>
        <p:txBody>
          <a:bodyPr/>
          <a:lstStyle>
            <a:lvl1pPr>
              <a:defRPr sz="4574"/>
            </a:lvl1pPr>
            <a:lvl2pPr>
              <a:defRPr sz="3811"/>
            </a:lvl2pPr>
            <a:lvl3pPr>
              <a:defRPr sz="3430"/>
            </a:lvl3pPr>
            <a:lvl4pPr>
              <a:defRPr sz="3049"/>
            </a:lvl4pPr>
            <a:lvl5pPr>
              <a:defRPr sz="3049"/>
            </a:lvl5pPr>
            <a:lvl6pPr>
              <a:defRPr sz="3049"/>
            </a:lvl6pPr>
            <a:lvl7pPr>
              <a:defRPr sz="3049"/>
            </a:lvl7pPr>
            <a:lvl8pPr>
              <a:defRPr sz="3049"/>
            </a:lvl8pPr>
            <a:lvl9pPr>
              <a:defRPr sz="30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851896" y="3102721"/>
            <a:ext cx="7702299" cy="1293066"/>
          </a:xfrm>
        </p:spPr>
        <p:txBody>
          <a:bodyPr anchor="b"/>
          <a:lstStyle>
            <a:lvl1pPr marL="0" indent="0">
              <a:buNone/>
              <a:defRPr sz="4574" b="1"/>
            </a:lvl1pPr>
            <a:lvl2pPr marL="871286" indent="0">
              <a:buNone/>
              <a:defRPr sz="3811" b="1"/>
            </a:lvl2pPr>
            <a:lvl3pPr marL="1742572" indent="0">
              <a:buNone/>
              <a:defRPr sz="3430" b="1"/>
            </a:lvl3pPr>
            <a:lvl4pPr marL="2613858" indent="0">
              <a:buNone/>
              <a:defRPr sz="3049" b="1"/>
            </a:lvl4pPr>
            <a:lvl5pPr marL="3485144" indent="0">
              <a:buNone/>
              <a:defRPr sz="3049" b="1"/>
            </a:lvl5pPr>
            <a:lvl6pPr marL="4356430" indent="0">
              <a:buNone/>
              <a:defRPr sz="3049" b="1"/>
            </a:lvl6pPr>
            <a:lvl7pPr marL="5227716" indent="0">
              <a:buNone/>
              <a:defRPr sz="3049" b="1"/>
            </a:lvl7pPr>
            <a:lvl8pPr marL="6099002" indent="0">
              <a:buNone/>
              <a:defRPr sz="3049" b="1"/>
            </a:lvl8pPr>
            <a:lvl9pPr marL="6970288" indent="0">
              <a:buNone/>
              <a:defRPr sz="304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851896" y="4395787"/>
            <a:ext cx="7702299" cy="7986215"/>
          </a:xfrm>
        </p:spPr>
        <p:txBody>
          <a:bodyPr/>
          <a:lstStyle>
            <a:lvl1pPr>
              <a:defRPr sz="4574"/>
            </a:lvl1pPr>
            <a:lvl2pPr>
              <a:defRPr sz="3811"/>
            </a:lvl2pPr>
            <a:lvl3pPr>
              <a:defRPr sz="3430"/>
            </a:lvl3pPr>
            <a:lvl4pPr>
              <a:defRPr sz="3049"/>
            </a:lvl4pPr>
            <a:lvl5pPr>
              <a:defRPr sz="3049"/>
            </a:lvl5pPr>
            <a:lvl6pPr>
              <a:defRPr sz="3049"/>
            </a:lvl6pPr>
            <a:lvl7pPr>
              <a:defRPr sz="3049"/>
            </a:lvl7pPr>
            <a:lvl8pPr>
              <a:defRPr sz="3049"/>
            </a:lvl8pPr>
            <a:lvl9pPr>
              <a:defRPr sz="30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1274" y="551880"/>
            <a:ext cx="5732859" cy="2348698"/>
          </a:xfrm>
        </p:spPr>
        <p:txBody>
          <a:bodyPr anchor="b"/>
          <a:lstStyle>
            <a:lvl1pPr algn="l">
              <a:defRPr sz="381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2874" y="551881"/>
            <a:ext cx="9741320" cy="11830122"/>
          </a:xfrm>
        </p:spPr>
        <p:txBody>
          <a:bodyPr/>
          <a:lstStyle>
            <a:lvl1pPr>
              <a:defRPr sz="6098"/>
            </a:lvl1pPr>
            <a:lvl2pPr>
              <a:defRPr sz="5336"/>
            </a:lvl2pPr>
            <a:lvl3pPr>
              <a:defRPr sz="4574"/>
            </a:lvl3pPr>
            <a:lvl4pPr>
              <a:defRPr sz="3811"/>
            </a:lvl4pPr>
            <a:lvl5pPr>
              <a:defRPr sz="3811"/>
            </a:lvl5pPr>
            <a:lvl6pPr>
              <a:defRPr sz="3811"/>
            </a:lvl6pPr>
            <a:lvl7pPr>
              <a:defRPr sz="3811"/>
            </a:lvl7pPr>
            <a:lvl8pPr>
              <a:defRPr sz="3811"/>
            </a:lvl8pPr>
            <a:lvl9pPr>
              <a:defRPr sz="38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1274" y="2900579"/>
            <a:ext cx="5732859" cy="9481424"/>
          </a:xfrm>
        </p:spPr>
        <p:txBody>
          <a:bodyPr/>
          <a:lstStyle>
            <a:lvl1pPr marL="0" indent="0">
              <a:buNone/>
              <a:defRPr sz="2668"/>
            </a:lvl1pPr>
            <a:lvl2pPr marL="871286" indent="0">
              <a:buNone/>
              <a:defRPr sz="2287"/>
            </a:lvl2pPr>
            <a:lvl3pPr marL="1742572" indent="0">
              <a:buNone/>
              <a:defRPr sz="1906"/>
            </a:lvl3pPr>
            <a:lvl4pPr marL="2613858" indent="0">
              <a:buNone/>
              <a:defRPr sz="1715"/>
            </a:lvl4pPr>
            <a:lvl5pPr marL="3485144" indent="0">
              <a:buNone/>
              <a:defRPr sz="1715"/>
            </a:lvl5pPr>
            <a:lvl6pPr marL="4356430" indent="0">
              <a:buNone/>
              <a:defRPr sz="1715"/>
            </a:lvl6pPr>
            <a:lvl7pPr marL="5227716" indent="0">
              <a:buNone/>
              <a:defRPr sz="1715"/>
            </a:lvl7pPr>
            <a:lvl8pPr marL="6099002" indent="0">
              <a:buNone/>
              <a:defRPr sz="1715"/>
            </a:lvl8pPr>
            <a:lvl9pPr marL="6970288" indent="0">
              <a:buNone/>
              <a:defRPr sz="17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5514" y="9702817"/>
            <a:ext cx="10455280" cy="1145472"/>
          </a:xfrm>
        </p:spPr>
        <p:txBody>
          <a:bodyPr anchor="b"/>
          <a:lstStyle>
            <a:lvl1pPr algn="l">
              <a:defRPr sz="381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415514" y="1238521"/>
            <a:ext cx="10455280" cy="8316700"/>
          </a:xfrm>
        </p:spPr>
        <p:txBody>
          <a:bodyPr/>
          <a:lstStyle>
            <a:lvl1pPr marL="0" indent="0">
              <a:buNone/>
              <a:defRPr sz="6098"/>
            </a:lvl1pPr>
            <a:lvl2pPr marL="871286" indent="0">
              <a:buNone/>
              <a:defRPr sz="5336"/>
            </a:lvl2pPr>
            <a:lvl3pPr marL="1742572" indent="0">
              <a:buNone/>
              <a:defRPr sz="4574"/>
            </a:lvl3pPr>
            <a:lvl4pPr marL="2613858" indent="0">
              <a:buNone/>
              <a:defRPr sz="3811"/>
            </a:lvl4pPr>
            <a:lvl5pPr marL="3485144" indent="0">
              <a:buNone/>
              <a:defRPr sz="3811"/>
            </a:lvl5pPr>
            <a:lvl6pPr marL="4356430" indent="0">
              <a:buNone/>
              <a:defRPr sz="3811"/>
            </a:lvl6pPr>
            <a:lvl7pPr marL="5227716" indent="0">
              <a:buNone/>
              <a:defRPr sz="3811"/>
            </a:lvl7pPr>
            <a:lvl8pPr marL="6099002" indent="0">
              <a:buNone/>
              <a:defRPr sz="3811"/>
            </a:lvl8pPr>
            <a:lvl9pPr marL="6970288" indent="0">
              <a:buNone/>
              <a:defRPr sz="3811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15514" y="10848290"/>
            <a:ext cx="10455280" cy="1626761"/>
          </a:xfrm>
        </p:spPr>
        <p:txBody>
          <a:bodyPr/>
          <a:lstStyle>
            <a:lvl1pPr marL="0" indent="0">
              <a:buNone/>
              <a:defRPr sz="2668"/>
            </a:lvl1pPr>
            <a:lvl2pPr marL="871286" indent="0">
              <a:buNone/>
              <a:defRPr sz="2287"/>
            </a:lvl2pPr>
            <a:lvl3pPr marL="1742572" indent="0">
              <a:buNone/>
              <a:defRPr sz="1906"/>
            </a:lvl3pPr>
            <a:lvl4pPr marL="2613858" indent="0">
              <a:buNone/>
              <a:defRPr sz="1715"/>
            </a:lvl4pPr>
            <a:lvl5pPr marL="3485144" indent="0">
              <a:buNone/>
              <a:defRPr sz="1715"/>
            </a:lvl5pPr>
            <a:lvl6pPr marL="4356430" indent="0">
              <a:buNone/>
              <a:defRPr sz="1715"/>
            </a:lvl6pPr>
            <a:lvl7pPr marL="5227716" indent="0">
              <a:buNone/>
              <a:defRPr sz="1715"/>
            </a:lvl7pPr>
            <a:lvl8pPr marL="6099002" indent="0">
              <a:buNone/>
              <a:defRPr sz="1715"/>
            </a:lvl8pPr>
            <a:lvl9pPr marL="6970288" indent="0">
              <a:buNone/>
              <a:defRPr sz="17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633464" y="555090"/>
            <a:ext cx="3920730" cy="11826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71273" y="555090"/>
            <a:ext cx="11471766" cy="11826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742572" rtl="0" eaLnBrk="1" latinLnBrk="0" hangingPunct="1">
        <a:spcBef>
          <a:spcPct val="0"/>
        </a:spcBef>
        <a:buNone/>
        <a:defRPr sz="838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53465" indent="-653465" algn="l" defTabSz="1742572" rtl="0" eaLnBrk="1" latinLnBrk="0" hangingPunct="1">
        <a:spcBef>
          <a:spcPct val="20000"/>
        </a:spcBef>
        <a:buFont typeface="Arial" pitchFamily="34" charset="0"/>
        <a:buChar char="•"/>
        <a:defRPr sz="6098" kern="1200">
          <a:solidFill>
            <a:schemeClr val="tx1"/>
          </a:solidFill>
          <a:latin typeface="+mn-lt"/>
          <a:ea typeface="+mn-ea"/>
          <a:cs typeface="+mn-cs"/>
        </a:defRPr>
      </a:lvl1pPr>
      <a:lvl2pPr marL="1415840" indent="-544554" algn="l" defTabSz="1742572" rtl="0" eaLnBrk="1" latinLnBrk="0" hangingPunct="1">
        <a:spcBef>
          <a:spcPct val="20000"/>
        </a:spcBef>
        <a:buFont typeface="Arial" pitchFamily="34" charset="0"/>
        <a:buChar char="–"/>
        <a:defRPr sz="5336" kern="1200">
          <a:solidFill>
            <a:schemeClr val="tx1"/>
          </a:solidFill>
          <a:latin typeface="+mn-lt"/>
          <a:ea typeface="+mn-ea"/>
          <a:cs typeface="+mn-cs"/>
        </a:defRPr>
      </a:lvl2pPr>
      <a:lvl3pPr marL="2178215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4574" kern="1200">
          <a:solidFill>
            <a:schemeClr val="tx1"/>
          </a:solidFill>
          <a:latin typeface="+mn-lt"/>
          <a:ea typeface="+mn-ea"/>
          <a:cs typeface="+mn-cs"/>
        </a:defRPr>
      </a:lvl3pPr>
      <a:lvl4pPr marL="3049501" indent="-435643" algn="l" defTabSz="1742572" rtl="0" eaLnBrk="1" latinLnBrk="0" hangingPunct="1">
        <a:spcBef>
          <a:spcPct val="20000"/>
        </a:spcBef>
        <a:buFont typeface="Arial" pitchFamily="34" charset="0"/>
        <a:buChar char="–"/>
        <a:defRPr sz="3811" kern="1200">
          <a:solidFill>
            <a:schemeClr val="tx1"/>
          </a:solidFill>
          <a:latin typeface="+mn-lt"/>
          <a:ea typeface="+mn-ea"/>
          <a:cs typeface="+mn-cs"/>
        </a:defRPr>
      </a:lvl4pPr>
      <a:lvl5pPr marL="3920787" indent="-435643" algn="l" defTabSz="1742572" rtl="0" eaLnBrk="1" latinLnBrk="0" hangingPunct="1">
        <a:spcBef>
          <a:spcPct val="20000"/>
        </a:spcBef>
        <a:buFont typeface="Arial" pitchFamily="34" charset="0"/>
        <a:buChar char="»"/>
        <a:defRPr sz="3811" kern="1200">
          <a:solidFill>
            <a:schemeClr val="tx1"/>
          </a:solidFill>
          <a:latin typeface="+mn-lt"/>
          <a:ea typeface="+mn-ea"/>
          <a:cs typeface="+mn-cs"/>
        </a:defRPr>
      </a:lvl5pPr>
      <a:lvl6pPr marL="4792073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6pPr>
      <a:lvl7pPr marL="5663359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7pPr>
      <a:lvl8pPr marL="6534645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8pPr>
      <a:lvl9pPr marL="7405931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1pPr>
      <a:lvl2pPr marL="871286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2pPr>
      <a:lvl3pPr marL="1742572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3pPr>
      <a:lvl4pPr marL="2613858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4pPr>
      <a:lvl5pPr marL="3485144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5pPr>
      <a:lvl6pPr marL="4356430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6pPr>
      <a:lvl7pPr marL="5227716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7pPr>
      <a:lvl8pPr marL="6099002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8pPr>
      <a:lvl9pPr marL="6970288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34721" y="36779527"/>
            <a:ext cx="29324843" cy="6461592"/>
            <a:chOff x="0" y="0"/>
            <a:chExt cx="3032124" cy="6075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32124" cy="607578"/>
            </a:xfrm>
            <a:custGeom>
              <a:avLst/>
              <a:gdLst/>
              <a:ahLst/>
              <a:cxnLst/>
              <a:rect l="l" t="t" r="r" b="b"/>
              <a:pathLst>
                <a:path w="3032124" h="607578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sp>
        <p:nvSpPr>
          <p:cNvPr id="5" name="Freeform 5"/>
          <p:cNvSpPr/>
          <p:nvPr/>
        </p:nvSpPr>
        <p:spPr>
          <a:xfrm>
            <a:off x="3163237" y="34829695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48959"/>
            </a:stretch>
          </a:blipFill>
        </p:spPr>
        <p:txBody>
          <a:bodyPr/>
          <a:lstStyle/>
          <a:p>
            <a:endParaRPr lang="pt-BR" sz="6769"/>
          </a:p>
        </p:txBody>
      </p:sp>
      <p:grpSp>
        <p:nvGrpSpPr>
          <p:cNvPr id="6" name="Group 6"/>
          <p:cNvGrpSpPr/>
          <p:nvPr/>
        </p:nvGrpSpPr>
        <p:grpSpPr>
          <a:xfrm>
            <a:off x="-234720" y="29306856"/>
            <a:ext cx="29304069" cy="9253255"/>
            <a:chOff x="0" y="0"/>
            <a:chExt cx="3163653" cy="87007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63653" cy="870076"/>
            </a:xfrm>
            <a:custGeom>
              <a:avLst/>
              <a:gdLst/>
              <a:ahLst/>
              <a:cxnLst/>
              <a:rect l="l" t="t" r="r" b="b"/>
              <a:pathLst>
                <a:path w="3163653" h="870076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234719" y="21516783"/>
            <a:ext cx="29324842" cy="8954039"/>
            <a:chOff x="0" y="0"/>
            <a:chExt cx="3225442" cy="84194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25442" cy="841941"/>
            </a:xfrm>
            <a:custGeom>
              <a:avLst/>
              <a:gdLst/>
              <a:ahLst/>
              <a:cxnLst/>
              <a:rect l="l" t="t" r="r" b="b"/>
              <a:pathLst>
                <a:path w="3225442" h="841941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234720" y="16067865"/>
            <a:ext cx="29304069" cy="7866470"/>
            <a:chOff x="0" y="0"/>
            <a:chExt cx="3032124" cy="73967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032124" cy="739677"/>
            </a:xfrm>
            <a:custGeom>
              <a:avLst/>
              <a:gdLst/>
              <a:ahLst/>
              <a:cxnLst/>
              <a:rect l="l" t="t" r="r" b="b"/>
              <a:pathLst>
                <a:path w="3032124" h="739677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234719" y="7322639"/>
            <a:ext cx="29304069" cy="8719626"/>
            <a:chOff x="0" y="0"/>
            <a:chExt cx="3218728" cy="81989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218728" cy="819899"/>
            </a:xfrm>
            <a:custGeom>
              <a:avLst/>
              <a:gdLst/>
              <a:ahLst/>
              <a:cxnLst/>
              <a:rect l="l" t="t" r="r" b="b"/>
              <a:pathLst>
                <a:path w="3218728" h="819899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755436" cy="803341"/>
            </a:xfrm>
            <a:custGeom>
              <a:avLst/>
              <a:gdLst/>
              <a:ahLst/>
              <a:cxnLst/>
              <a:rect l="l" t="t" r="r" b="b"/>
              <a:pathLst>
                <a:path w="2755436" h="803341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21" name="Group 21"/>
          <p:cNvGrpSpPr/>
          <p:nvPr/>
        </p:nvGrpSpPr>
        <p:grpSpPr>
          <a:xfrm rot="-5400000">
            <a:off x="11259884" y="13359946"/>
            <a:ext cx="20620019" cy="12527228"/>
            <a:chOff x="0" y="0"/>
            <a:chExt cx="1922704" cy="117699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922704" cy="1176995"/>
            </a:xfrm>
            <a:custGeom>
              <a:avLst/>
              <a:gdLst/>
              <a:ahLst/>
              <a:cxnLst/>
              <a:rect l="l" t="t" r="r" b="b"/>
              <a:pathLst>
                <a:path w="1922704" h="1176995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</p:spPr>
          <p:txBody>
            <a:bodyPr lIns="89001" tIns="89001" rIns="89001" bIns="89001" rtlCol="0" anchor="ctr"/>
            <a:lstStyle/>
            <a:p>
              <a:pPr algn="ctr">
                <a:lnSpc>
                  <a:spcPts val="7596"/>
                </a:lnSpc>
              </a:pPr>
              <a:endParaRPr sz="6769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32293" y="30397627"/>
            <a:ext cx="13848538" cy="7913234"/>
            <a:chOff x="0" y="0"/>
            <a:chExt cx="1302166" cy="82073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02166" cy="820732"/>
            </a:xfrm>
            <a:custGeom>
              <a:avLst/>
              <a:gdLst/>
              <a:ahLst/>
              <a:cxnLst/>
              <a:rect l="l" t="t" r="r" b="b"/>
              <a:pathLst>
                <a:path w="1302166" h="820732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</a:pPr>
              <a:endParaRPr sz="6769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5403306" y="30434161"/>
            <a:ext cx="12527228" cy="7840166"/>
            <a:chOff x="0" y="0"/>
            <a:chExt cx="8764870" cy="5371264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8764870" cy="5371264"/>
              <a:chOff x="0" y="0"/>
              <a:chExt cx="1329056" cy="814469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avLst/>
                <a:gdLst/>
                <a:ahLst/>
                <a:cxnLst/>
                <a:rect l="l" t="t" r="r" b="b"/>
                <a:pathLst>
                  <a:path w="1329056" h="814469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 sz="6769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</p:spPr>
            <p:txBody>
              <a:bodyPr lIns="96808" tIns="96808" rIns="96808" bIns="96808" rtlCol="0" anchor="ctr"/>
              <a:lstStyle/>
              <a:p>
                <a:pPr algn="ctr">
                  <a:lnSpc>
                    <a:spcPts val="7596"/>
                  </a:lnSpc>
                </a:pPr>
                <a:endParaRPr sz="6769"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1064599" y="353406"/>
              <a:ext cx="6635674" cy="4333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10"/>
                </a:lnSpc>
              </a:pPr>
              <a:r>
                <a:rPr lang="en-US" sz="4762" b="1" spc="179" dirty="0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REFERÊNCIAS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-916543" y="1525353"/>
            <a:ext cx="8571184" cy="2454222"/>
          </a:xfrm>
          <a:custGeom>
            <a:avLst/>
            <a:gdLst/>
            <a:ahLst/>
            <a:cxnLst/>
            <a:rect l="l" t="t" r="r" b="b"/>
            <a:pathLst>
              <a:path w="4497722" h="1287851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sz="6769"/>
          </a:p>
        </p:txBody>
      </p:sp>
      <p:sp>
        <p:nvSpPr>
          <p:cNvPr id="33" name="Freeform 33"/>
          <p:cNvSpPr/>
          <p:nvPr/>
        </p:nvSpPr>
        <p:spPr>
          <a:xfrm>
            <a:off x="3163237" y="-4997460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48959"/>
            </a:stretch>
          </a:blipFill>
        </p:spPr>
        <p:txBody>
          <a:bodyPr/>
          <a:lstStyle/>
          <a:p>
            <a:endParaRPr lang="pt-BR" sz="6769"/>
          </a:p>
        </p:txBody>
      </p:sp>
      <p:sp>
        <p:nvSpPr>
          <p:cNvPr id="34" name="Freeform 34"/>
          <p:cNvSpPr/>
          <p:nvPr/>
        </p:nvSpPr>
        <p:spPr>
          <a:xfrm>
            <a:off x="21014306" y="1712017"/>
            <a:ext cx="7228385" cy="2335060"/>
          </a:xfrm>
          <a:custGeom>
            <a:avLst/>
            <a:gdLst/>
            <a:ahLst/>
            <a:cxnLst/>
            <a:rect l="l" t="t" r="r" b="b"/>
            <a:pathLst>
              <a:path w="3793089" h="1225321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 sz="6769"/>
          </a:p>
        </p:txBody>
      </p:sp>
      <p:sp>
        <p:nvSpPr>
          <p:cNvPr id="36" name="TextBox 36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5077" b="1" spc="192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INTRODUÇÃO</a:t>
            </a:r>
          </a:p>
        </p:txBody>
      </p:sp>
      <p:grpSp>
        <p:nvGrpSpPr>
          <p:cNvPr id="37" name="Group 37"/>
          <p:cNvGrpSpPr/>
          <p:nvPr/>
        </p:nvGrpSpPr>
        <p:grpSpPr>
          <a:xfrm rot="-5400000">
            <a:off x="2629078" y="7611653"/>
            <a:ext cx="10444744" cy="13848538"/>
            <a:chOff x="0" y="0"/>
            <a:chExt cx="958980" cy="130113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58980" cy="1301139"/>
            </a:xfrm>
            <a:custGeom>
              <a:avLst/>
              <a:gdLst/>
              <a:ahLst/>
              <a:cxnLst/>
              <a:rect l="l" t="t" r="r" b="b"/>
              <a:pathLst>
                <a:path w="958980" h="1301139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</p:spPr>
          <p:txBody>
            <a:bodyPr lIns="89001" tIns="89001" rIns="89001" bIns="89001" rtlCol="0" anchor="ctr"/>
            <a:lstStyle/>
            <a:p>
              <a:pPr algn="ctr">
                <a:lnSpc>
                  <a:spcPts val="7596"/>
                </a:lnSpc>
              </a:pPr>
              <a:endParaRPr sz="6769"/>
            </a:p>
          </p:txBody>
        </p:sp>
      </p:grpSp>
      <p:grpSp>
        <p:nvGrpSpPr>
          <p:cNvPr id="40" name="Group 40"/>
          <p:cNvGrpSpPr/>
          <p:nvPr/>
        </p:nvGrpSpPr>
        <p:grpSpPr>
          <a:xfrm rot="-5400000">
            <a:off x="2869448" y="18058832"/>
            <a:ext cx="9963998" cy="13848538"/>
            <a:chOff x="0" y="0"/>
            <a:chExt cx="936167" cy="130113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36167" cy="1301139"/>
            </a:xfrm>
            <a:custGeom>
              <a:avLst/>
              <a:gdLst/>
              <a:ahLst/>
              <a:cxnLst/>
              <a:rect l="l" t="t" r="r" b="b"/>
              <a:pathLst>
                <a:path w="936167" h="1301139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</p:spPr>
          <p:txBody>
            <a:bodyPr lIns="89001" tIns="89001" rIns="89001" bIns="89001" rtlCol="0" anchor="ctr"/>
            <a:lstStyle/>
            <a:p>
              <a:pPr algn="ctr">
                <a:lnSpc>
                  <a:spcPts val="7596"/>
                </a:lnSpc>
              </a:pPr>
              <a:endParaRPr sz="6769"/>
            </a:p>
          </p:txBody>
        </p:sp>
      </p:grpSp>
      <p:sp>
        <p:nvSpPr>
          <p:cNvPr id="43" name="Freeform 43"/>
          <p:cNvSpPr/>
          <p:nvPr/>
        </p:nvSpPr>
        <p:spPr>
          <a:xfrm>
            <a:off x="22527251" y="36801439"/>
            <a:ext cx="5609093" cy="5642282"/>
          </a:xfrm>
          <a:custGeom>
            <a:avLst/>
            <a:gdLst/>
            <a:ahLst/>
            <a:cxnLst/>
            <a:rect l="l" t="t" r="r" b="b"/>
            <a:pathLst>
              <a:path w="2943367" h="2960783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BR" sz="6769"/>
          </a:p>
        </p:txBody>
      </p:sp>
      <p:sp>
        <p:nvSpPr>
          <p:cNvPr id="44" name="TextBox 44"/>
          <p:cNvSpPr txBox="1"/>
          <p:nvPr/>
        </p:nvSpPr>
        <p:spPr>
          <a:xfrm>
            <a:off x="-1" y="4700167"/>
            <a:ext cx="28813765" cy="1484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49"/>
              </a:lnSpc>
            </a:pPr>
            <a:r>
              <a:rPr lang="en-US" sz="11434" b="1" spc="433" dirty="0" err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Aplicativo</a:t>
            </a:r>
            <a:r>
              <a:rPr lang="en-US" sz="11434" b="1" spc="433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Maya-RPG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404768" y="6355587"/>
            <a:ext cx="24286089" cy="1661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68"/>
              </a:lnSpc>
            </a:pPr>
            <a:r>
              <a:rPr lang="en-US" sz="4762" b="1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André Ferreira, Cauan Moreira, Rogério Vieira e Victor Camargo</a:t>
            </a:r>
          </a:p>
          <a:p>
            <a:pPr algn="ctr">
              <a:lnSpc>
                <a:spcPts val="6668"/>
              </a:lnSpc>
            </a:pPr>
            <a:r>
              <a:rPr lang="en-US" sz="4762" b="1" dirty="0" err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Orientadores</a:t>
            </a:r>
            <a:r>
              <a:rPr lang="en-US" sz="4762" b="1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: </a:t>
            </a:r>
            <a:r>
              <a:rPr lang="en-US" sz="4762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Aimar Lopes, Francisco Escobar, Rodrigo Rosa e Jefferson Silva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5450314" y="18476119"/>
            <a:ext cx="12433206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3430" spc="1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Imagens 01 a 08: </a:t>
            </a:r>
            <a:r>
              <a:rPr lang="en-US" sz="3430" spc="13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Aplicativo</a:t>
            </a:r>
            <a:r>
              <a:rPr lang="en-US" sz="3430" spc="1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Maya-RPG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5378206" y="28991549"/>
            <a:ext cx="12433206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3430" spc="1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Fonte: </a:t>
            </a:r>
            <a:r>
              <a:rPr lang="en-US" sz="3430" spc="13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Autoria</a:t>
            </a:r>
            <a:r>
              <a:rPr lang="en-US" sz="3430" spc="1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430" spc="13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Própria</a:t>
            </a:r>
            <a:r>
              <a:rPr lang="en-US" sz="3430" spc="1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(2026)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561448" y="30886982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762" b="1" spc="179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TECNOLOGIAS UTILIZADAS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6608355" y="9855782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762" b="1" spc="179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RESULTADOS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644303" y="9789319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762" b="1" spc="179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 PROBLEMA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758254" y="20523782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762" b="1" spc="179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 PROPOSTA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6001612" y="31937388"/>
            <a:ext cx="11399871" cy="4750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fontAlgn="base"/>
            <a:r>
              <a:rPr lang="pt-BR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CLÍNICA MAYA YOSHIKO YAMAMOTO; YAMAMOTO, Maya Yoshiko. Identidade Visual e Informações Clínicas sobre Processos de RPG. Dados obtidos via entrevista e documentação interna. São Paulo, 2026</a:t>
            </a:r>
          </a:p>
          <a:p>
            <a:pPr marL="457200" indent="-457200" algn="just" fontAlgn="base">
              <a:buFont typeface="Arial" panose="020B0604020202020204" pitchFamily="34" charset="0"/>
              <a:buChar char="•"/>
            </a:pPr>
            <a:endParaRPr lang="pt-BR" sz="3430" dirty="0">
              <a:solidFill>
                <a:srgbClr val="000000"/>
              </a:solidFill>
              <a:latin typeface="Open Sans 2"/>
              <a:ea typeface="Open Sans 2"/>
              <a:cs typeface="Open Sans 2"/>
            </a:endParaRPr>
          </a:p>
          <a:p>
            <a:pPr algn="just" fontAlgn="base"/>
            <a:r>
              <a:rPr lang="pt-BR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​FUNDAÇÃO ESCOLA DE COMÉRCIO ÁLVARES PENTEADO (FECAP). Projeto Interdisciplinar: Aplicativo Mobile e Módulo Web para Acompanhamento de Pacientes de RPG. São Paulo: FECAP, 2026.  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570062" y="31887319"/>
            <a:ext cx="12562767" cy="5494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fontAlgn="base"/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A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arquitetura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integra app e web via API REST com backend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containerizado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,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sendo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validada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por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testes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automatizados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e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metodologias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UX.</a:t>
            </a:r>
          </a:p>
          <a:p>
            <a:pPr algn="just" fontAlgn="base"/>
            <a:endParaRPr lang="en-US" sz="3430" dirty="0">
              <a:solidFill>
                <a:srgbClr val="000000"/>
              </a:solidFill>
              <a:latin typeface="Open Sans 2"/>
              <a:ea typeface="Open Sans 2"/>
              <a:cs typeface="Open Sans 2"/>
            </a:endParaRPr>
          </a:p>
          <a:p>
            <a:pPr algn="just" fontAlgn="base"/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​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Tecnologias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Principais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:</a:t>
            </a:r>
          </a:p>
          <a:p>
            <a:pPr marL="457200" indent="-457200" algn="just" fontAlgn="base">
              <a:buFont typeface="Arial" panose="020B0604020202020204" pitchFamily="34" charset="0"/>
              <a:buChar char="•"/>
            </a:pP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​Mobile e Web: Android Studio (Java), SQLite e React.js</a:t>
            </a:r>
          </a:p>
          <a:p>
            <a:pPr marL="457200" indent="-457200" algn="just" fontAlgn="base">
              <a:buFont typeface="Arial" panose="020B0604020202020204" pitchFamily="34" charset="0"/>
              <a:buChar char="•"/>
            </a:pP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​Backend: Spring Boot (Java 21) e PostgreSQL</a:t>
            </a:r>
          </a:p>
          <a:p>
            <a:pPr marL="457200" indent="-457200" algn="just" fontAlgn="base">
              <a:buFont typeface="Arial" panose="020B0604020202020204" pitchFamily="34" charset="0"/>
              <a:buChar char="•"/>
            </a:pP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​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Infraestrutura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e Testes: Docker, JUnit e Gatling</a:t>
            </a:r>
          </a:p>
          <a:p>
            <a:pPr marL="457200" indent="-457200" algn="just" fontAlgn="base">
              <a:buFont typeface="Arial" panose="020B0604020202020204" pitchFamily="34" charset="0"/>
              <a:buChar char="•"/>
            </a:pP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​UX: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Métrica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SUS e Framework HEART</a:t>
            </a:r>
          </a:p>
          <a:p>
            <a:pPr algn="just">
              <a:lnSpc>
                <a:spcPts val="4802"/>
              </a:lnSpc>
            </a:pPr>
            <a:endParaRPr lang="en-US" sz="3430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1608845" y="10551319"/>
            <a:ext cx="12562767" cy="9548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fontAlgn="base"/>
            <a:r>
              <a:rPr lang="pt-BR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O acompanhamento do tratamento de Reeducação Postural Global (RPG) da fisioterapeuta Maya Yamamoto enfrenta obstáculos na comunicação. Atualmente, o monitoramento e os registros ocorrem de forma dispersa, utilizando mensagens informais e anotações que não são padronizadas.</a:t>
            </a:r>
          </a:p>
          <a:p>
            <a:pPr algn="just" fontAlgn="base"/>
            <a:endParaRPr lang="pt-BR" sz="3430" dirty="0">
              <a:solidFill>
                <a:srgbClr val="000000"/>
              </a:solidFill>
              <a:latin typeface="Open Sans 2"/>
              <a:ea typeface="Open Sans 2"/>
              <a:cs typeface="Open Sans 2"/>
            </a:endParaRPr>
          </a:p>
          <a:p>
            <a:pPr algn="just" fontAlgn="base"/>
            <a:r>
              <a:rPr lang="pt-BR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Essa fragmentação dos dados impacta negativamente a rotina clínica e administrativa. A ausência de um sistema centralizado dificulta a rastreabilidade ágil do prontuário, atrasando o acesso ao histórico e prejudicando o controle eficiente da agenda.</a:t>
            </a:r>
          </a:p>
          <a:p>
            <a:pPr algn="just" fontAlgn="base"/>
            <a:endParaRPr lang="pt-BR" sz="3430" dirty="0">
              <a:solidFill>
                <a:srgbClr val="000000"/>
              </a:solidFill>
              <a:latin typeface="Open Sans 2"/>
              <a:ea typeface="Open Sans 2"/>
              <a:cs typeface="Open Sans 2"/>
            </a:endParaRPr>
          </a:p>
          <a:p>
            <a:pPr algn="just" fontAlgn="base"/>
            <a:r>
              <a:rPr lang="pt-BR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Sem uma ferramenta tecnológica dedicada, a continuidade do tratamento fica comprometida. A falta de um meio prático para acessar o planejamento de exercícios domiciliares dificulta a execução correta das séries pelo paciente, reduzindo a eficácia da reabilitação.</a:t>
            </a:r>
          </a:p>
          <a:p>
            <a:pPr algn="just">
              <a:lnSpc>
                <a:spcPts val="4802"/>
              </a:lnSpc>
            </a:pPr>
            <a:endParaRPr lang="en-US" sz="3430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570066" y="21371719"/>
            <a:ext cx="12562767" cy="8492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fontAlgn="base"/>
            <a:r>
              <a:rPr lang="pt-BR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Para solucionar esses desafios, o projeto propõe o desenvolvimento de uma solução digital integrada para apoiar a rotina clínica de RPG. O ecossistema é formado por três partes: um Aplicativo Mobile, um Módulo Web e um Backend.</a:t>
            </a:r>
          </a:p>
          <a:p>
            <a:pPr algn="just" fontAlgn="base"/>
            <a:endParaRPr lang="pt-BR" sz="3430" dirty="0">
              <a:solidFill>
                <a:srgbClr val="000000"/>
              </a:solidFill>
              <a:latin typeface="Open Sans 2"/>
              <a:ea typeface="Open Sans 2"/>
              <a:cs typeface="Open Sans 2"/>
            </a:endParaRPr>
          </a:p>
          <a:p>
            <a:pPr algn="just" fontAlgn="base"/>
            <a:r>
              <a:rPr lang="pt-BR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O Aplicativo Mobile foi desenhado para ser a interface diária do paciente. Por ele, o usuário acessa planos de exercícios com vídeos e imagens, registra a execução da sua rotina e acompanha seu histórico de evolução.</a:t>
            </a:r>
          </a:p>
          <a:p>
            <a:pPr algn="just" fontAlgn="base"/>
            <a:endParaRPr lang="pt-BR" sz="3430" dirty="0">
              <a:solidFill>
                <a:srgbClr val="000000"/>
              </a:solidFill>
              <a:latin typeface="Open Sans 2"/>
              <a:ea typeface="Open Sans 2"/>
              <a:cs typeface="Open Sans 2"/>
            </a:endParaRPr>
          </a:p>
          <a:p>
            <a:pPr algn="just" fontAlgn="base"/>
            <a:r>
              <a:rPr lang="pt-BR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O Módulo Web atuará como a central de comando da profissional para a gestão ágil de pacientes e prontuários. O Backend da aplicação assegurará a integração em tempo real, a autenticação e a persistência segura das informações.</a:t>
            </a:r>
          </a:p>
          <a:p>
            <a:pPr algn="just">
              <a:lnSpc>
                <a:spcPts val="4802"/>
              </a:lnSpc>
            </a:pPr>
            <a:endParaRPr lang="en-US" sz="3430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136933" y="39681833"/>
            <a:ext cx="28242690" cy="1712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7"/>
              </a:lnSpc>
            </a:pPr>
            <a:r>
              <a:rPr lang="en-US" sz="4955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SEMANA DE TECNOLOGIA - 2026</a:t>
            </a:r>
          </a:p>
          <a:p>
            <a:pPr algn="ctr">
              <a:lnSpc>
                <a:spcPts val="6937"/>
              </a:lnSpc>
              <a:spcBef>
                <a:spcPct val="0"/>
              </a:spcBef>
            </a:pPr>
            <a:r>
              <a:rPr lang="en-US" sz="4955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Fundação Escola de Comércio Álvares Penteado - FECAP</a:t>
            </a:r>
          </a:p>
        </p:txBody>
      </p:sp>
      <p:pic>
        <p:nvPicPr>
          <p:cNvPr id="75" name="Imagem 74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E0AA9440-C338-86E8-E702-EB6A7761023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5771" y="24204646"/>
            <a:ext cx="2260786" cy="43975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7" name="Imagem 76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72112E45-C93C-8F4D-45D9-2F3E90BC1E9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22972" y="24204646"/>
            <a:ext cx="2260786" cy="439754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9" name="Imagem 78" descr="Interface gráfica do usuário, Texto, Aplicativo, chat ou mensagem de texto&#10;&#10;O conteúdo gerado por IA pode estar incorreto.">
            <a:extLst>
              <a:ext uri="{FF2B5EF4-FFF2-40B4-BE49-F238E27FC236}">
                <a16:creationId xmlns:a16="http://schemas.microsoft.com/office/drawing/2014/main" id="{F24F9B31-0038-9306-2149-C44A2957D58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7068" y="24204646"/>
            <a:ext cx="2260787" cy="439754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3" name="Imagem 82" descr="Interface gráfica do usuário, Site&#10;&#10;O conteúdo gerado por IA pode estar incorreto.">
            <a:extLst>
              <a:ext uri="{FF2B5EF4-FFF2-40B4-BE49-F238E27FC236}">
                <a16:creationId xmlns:a16="http://schemas.microsoft.com/office/drawing/2014/main" id="{F3D4E063-ABEB-0801-372B-F83DE88F06C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1736" y="19346793"/>
            <a:ext cx="2246471" cy="43696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5" name="Imagem 84" descr="Interface gráfica do usuário, Aplicativo, chat ou mensagem de texto&#10;&#10;O conteúdo gerado por IA pode estar incorreto.">
            <a:extLst>
              <a:ext uri="{FF2B5EF4-FFF2-40B4-BE49-F238E27FC236}">
                <a16:creationId xmlns:a16="http://schemas.microsoft.com/office/drawing/2014/main" id="{DE434CA5-F681-C34B-66D2-203FB13D93D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66370" y="19327846"/>
            <a:ext cx="2281485" cy="443780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7" name="Imagem 86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3FB831DA-8D43-A69C-2B9F-0392FDA16C9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5771" y="19346794"/>
            <a:ext cx="2246471" cy="43696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9" name="Imagem 88" descr="Uma imagem contendo Padrão do plano de fundo&#10;&#10;O conteúdo gerado por IA pode estar incorreto.">
            <a:extLst>
              <a:ext uri="{FF2B5EF4-FFF2-40B4-BE49-F238E27FC236}">
                <a16:creationId xmlns:a16="http://schemas.microsoft.com/office/drawing/2014/main" id="{63D5246C-666D-5EDF-5783-F1AEF01C4AEC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8569" y="19377342"/>
            <a:ext cx="2246472" cy="43697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0" name="Imagem 89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362DDFC3-C155-1BB9-3E23-8175A844ECA4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1412" y="24204646"/>
            <a:ext cx="2260786" cy="43975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6" name="TextBox 57"/>
          <p:cNvSpPr txBox="1"/>
          <p:nvPr/>
        </p:nvSpPr>
        <p:spPr>
          <a:xfrm>
            <a:off x="15619412" y="10627519"/>
            <a:ext cx="11904157" cy="84453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fontAlgn="base"/>
            <a:r>
              <a:rPr lang="pt-BR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Entregamos um ecossistema digital totalmente funcional que conecta de forma direta o paciente à Clínica Maya. Através do aplicativo, o usuário consegue visualizar facilmente suas séries de exercícios, registrar a execução da rotina de RPG e relatar indicadores clínicos, como a escala de dor, tornando seu progresso claro e tangível.</a:t>
            </a:r>
          </a:p>
          <a:p>
            <a:pPr algn="just" fontAlgn="base"/>
            <a:endParaRPr lang="pt-BR" sz="3430" dirty="0">
              <a:solidFill>
                <a:srgbClr val="000000"/>
              </a:solidFill>
              <a:latin typeface="Open Sans 2"/>
              <a:ea typeface="Open Sans 2"/>
              <a:cs typeface="Open Sans 2"/>
            </a:endParaRPr>
          </a:p>
          <a:p>
            <a:pPr algn="just" fontAlgn="base"/>
            <a:r>
              <a:rPr lang="pt-BR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O sistema assegura alta confiabilidade por meio da sincronização constante em nuvem e da persistência local de dados. Além disso, a automação de notificações impulsiona a adesão aos exercícios, fornecendo à fisioterapeuta informações precisas e centralizadas para um acompanhamento remoto assertivo e altamente personalizado.</a:t>
            </a:r>
          </a:p>
          <a:p>
            <a:br>
              <a:rPr lang="pt-BR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</a:br>
            <a:endParaRPr lang="en-US" sz="3430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3ca48ea3-8c75-4d36-b64f-70604b11fd22}" enabled="1" method="Standard" siteId="{3ac94b33-9135-4821-9502-eafda6592a3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555</TotalTime>
  <Words>544</Words>
  <Application>Microsoft Office PowerPoint</Application>
  <PresentationFormat>Personalizar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9" baseType="lpstr">
      <vt:lpstr>Inter</vt:lpstr>
      <vt:lpstr>Open Sans 2</vt:lpstr>
      <vt:lpstr>Open Sans 2 Bold</vt:lpstr>
      <vt:lpstr>Arial</vt:lpstr>
      <vt:lpstr>Open Sans 1</vt:lpstr>
      <vt:lpstr>Calibri</vt:lpstr>
      <vt:lpstr>Open Sans 1 Bold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POSTER FECAP</dc:title>
  <dc:creator>Rogerio Rodrigues Vieira</dc:creator>
  <cp:lastModifiedBy>25028005</cp:lastModifiedBy>
  <cp:revision>4</cp:revision>
  <dcterms:created xsi:type="dcterms:W3CDTF">2006-08-16T00:00:00Z</dcterms:created>
  <dcterms:modified xsi:type="dcterms:W3CDTF">2026-05-05T00:11:31Z</dcterms:modified>
  <dc:identifier>DAHA7VomhzE</dc:identifier>
</cp:coreProperties>
</file>